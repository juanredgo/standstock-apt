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Inter" panose="020B0604020202020204" charset="0"/>
      <p:regular r:id="rId13"/>
      <p:bold r:id="rId14"/>
      <p:italic r:id="rId15"/>
      <p:boldItalic r:id="rId16"/>
    </p:embeddedFont>
    <p:embeddedFont>
      <p:font typeface="Inter SemiBold" panose="020B0604020202020204" charset="0"/>
      <p:regular r:id="rId17"/>
      <p:bold r:id="rId18"/>
      <p:italic r:id="rId19"/>
      <p:boldItalic r:id="rId20"/>
    </p:embeddedFont>
    <p:embeddedFont>
      <p:font typeface="Outfit" panose="020B0604020202020204" charset="0"/>
      <p:regular r:id="rId21"/>
      <p:bold r:id="rId22"/>
    </p:embeddedFont>
    <p:embeddedFont>
      <p:font typeface="Outfit SemiBold"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09389E-E221-48DE-AEFC-6116FC8C98C1}">
  <a:tblStyle styleId="{5C09389E-E221-48DE-AEFC-6116FC8C98C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Estimada comisión, muy buenas tardes. Mi nombre es Juan Ignacio Redondo González y hoy presento la defensa de la Fase 2 del proyecto StandStock: Gestión de Inventario Multiplataforma Real-Time para stands y puntos de venta en micro-retail. El foco central de esta fase ha sido la consolidación de la arquitectura móvil del sistema mediante la migración a Firebase, la implementación de un sistema robusto de control de accesos basado en roles (RBAC), el desarrollo del flujo de cierre de caja auditado, y la inicialización y despliegue del panel web administrativo en React.</a:t>
            </a: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El problema operativo en los stands físicos se ubica en dos áreas críticas. Por un lado, la alta fricción operativa en el arqueo diario de caja, que se realizaba manualmente consumiendo hasta 30 minutos al final de cada turno y dando lugar a recurrentes errores matemáticos. Por otro lado, la invisibilidad del stock por falta de una sincronización en tiempo real con el inventario, lo que provoca quiebres de stock inadvertidos y pérdidas inmediatas de venta, afectando tanto a los vendedores como a la administración del negocio.</a:t>
            </a: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Para abordar estas problemáticas, definimos cuatro objetivos estratégicos para la Fase 2: Primero, migrar el almacenamiento de Supabase a Firebase Firestore, habilitando sincronización reactiva en tiempo real. Segundo, implementar un control de accesos RBAC (vendedor, administrador, super administrador) para resguardar la seguridad. Tercero, programar la pantalla móvil de Cierre de Caja con arqueo por método de pago y generación local de reportes CSV. Y cuarto, inicializar y desplegar en producción el panel web administrativo.</a:t>
            </a:r>
          </a:p>
        </p:txBody>
      </p:sp>
      <p:sp>
        <p:nvSpPr>
          <p:cNvPr id="107" name="Google Shape;10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 metodología de desarrollo aplicada fue Scrum, adaptada al rol de desarrollador único en sprints de dos semanas. Este enfoque iterativo e incremental nos permitió priorizar el desarrollo del módulo de cierre de caja en respuesta a las necesidades críticas del cliente. La división clara en planificación de sprint, desarrollo enfocado en incrementos de software funcionales y revisiones continuas, facilitó la detección temprana de deuda técnica y garantizó la calidad general del entregable de forma progresiva.</a:t>
            </a:r>
          </a:p>
        </p:txBody>
      </p:sp>
      <p:sp>
        <p:nvSpPr>
          <p:cNvPr id="125" name="Google Shape;12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En el desarrollo de la solución se lograron tres hitos de construcción fundamentales: Primero, el montaje del backend serverless en Firebase, adaptando todos los servicios móviles a Firestore. Segundo, el endurecimiento de la seguridad de la aplicación móvil aplicando controles RBAC que limitan las pantallas y acciones visibles según el rol del usuario autenticado. Y tercero, la programación lógica de la pantalla del Cierre de Caja, enlazándola a la colección 'cierres_dia' para automatizar el arqueo.</a:t>
            </a:r>
          </a:p>
        </p:txBody>
      </p:sp>
      <p:sp>
        <p:nvSpPr>
          <p:cNvPr id="145" name="Google Shape;14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Durante el desarrollo enfrentamos desafíos técnicos complejos. Resolvimos el bloqueo de Firebase Hosting al intentar alojar el instalador APK móvil en el plan Spark, migrando el binario a GitHub Releases. También corregimos overflows visuales en el Login móvil aplicando SingleChildScrollView. Diseñamos un sistema dinámico de asignación y desasignación de vendedores a stands. Por último, mitigamos la deuda técnica acumulada eliminando llamadas de consola redundantes y widgets obsoletos.</a:t>
            </a:r>
          </a:p>
        </p:txBody>
      </p:sp>
      <p:sp>
        <p:nvSpPr>
          <p:cNvPr id="163" name="Google Shape;16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Desde la ingeniería de software, la solución se basa en una arquitectura cliente-servidor serverless en la nube. Los clientes (Flutter en móvil y React en web) consumen los servicios integrados de Firebase. El diseño del modelo NoSQL en Firestore utiliza cinco colecciones optimizadas: usuarios, productos, stands, movimientos_stock y cierres_dia. Las relaciones se manejan mediante referencias cruzadas lógicas, asegurando consistencia de datos y lecturas eficientes en tiempo real.</a:t>
            </a:r>
          </a:p>
        </p:txBody>
      </p:sp>
      <p:sp>
        <p:nvSpPr>
          <p:cNvPr id="181" name="Google Shape;18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El control de procesos se formaliza mediante dos diagramas de ingeniería. El diagrama de casos de uso define los límites del sistema y restringe el acceso según el rol de autenticación del usuario. El diagrama de secuencia ilustra el flujo del Cierre de Caja: la aplicación móvil calcula el Total Sistema sumando los movimientos de salida del día, el vendedor digita el dinero físico contado por método de pago, el sistema calcula la diferencia y genera un archivo CSV local como respaldo físico, persistiendo el registro en Firestore.</a:t>
            </a:r>
          </a:p>
        </p:txBody>
      </p:sp>
      <p:sp>
        <p:nvSpPr>
          <p:cNvPr id="195" name="Google Shape;19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Los resultados de StandStock demuestran un impacto operacional inmediato. Hemos logrado un ahorro de tiempo del 80% en el arqueo diario de caja, reduciéndolo de 30 minutos a solo 5 minutos diarios. Además, se eliminó por completo el error de cálculo humano mediante validaciones de diferencias automatizadas en tiempo real. Por último, completamos con éxito la compilación de producción y el despliegue del panel web React en el hosting oficial de Firebase en https://standstockdb.web.app/.</a:t>
            </a:r>
          </a:p>
        </p:txBody>
      </p:sp>
      <p:sp>
        <p:nvSpPr>
          <p:cNvPr id="209" name="Google Shape;2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En conclusión, la Fase 2 de StandStock consolida una arquitectura multiplataforma robusta, reactiva y segura en tiempo real, resolviendo problemas críticos del sector de micro-retail y lista para escalar hacia la Fase 3 de reportería analítica avanzada. Muchas gracias por su atención y quedo a total disposición de la comisión evaluadora para responder a sus preguntas.</a:t>
            </a:r>
          </a:p>
        </p:txBody>
      </p:sp>
      <p:sp>
        <p:nvSpPr>
          <p:cNvPr id="223" name="Google Shape;22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1819275"/>
            <a:ext cx="1160145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FFFFFF"/>
                </a:solidFill>
                <a:latin typeface="Outfit"/>
                <a:ea typeface="Outfit"/>
                <a:cs typeface="Outfit"/>
                <a:sym typeface="Outfit"/>
              </a:rPr>
              <a:t>Stand</a:t>
            </a:r>
            <a:r>
              <a:rPr lang="en-US" sz="6000" b="1" i="0" u="none" strike="noStrike" cap="none">
                <a:solidFill>
                  <a:srgbClr val="00B74A"/>
                </a:solidFill>
                <a:latin typeface="Outfit"/>
                <a:ea typeface="Outfit"/>
                <a:cs typeface="Outfit"/>
                <a:sym typeface="Outfit"/>
              </a:rPr>
              <a:t>Stock</a:t>
            </a:r>
            <a:endParaRPr/>
          </a:p>
        </p:txBody>
      </p:sp>
      <p:sp>
        <p:nvSpPr>
          <p:cNvPr id="86" name="Google Shape;86;p13"/>
          <p:cNvSpPr txBox="1"/>
          <p:nvPr/>
        </p:nvSpPr>
        <p:spPr>
          <a:xfrm>
            <a:off x="571500" y="2943225"/>
            <a:ext cx="11049000" cy="4000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E0E0E0"/>
                </a:solidFill>
                <a:latin typeface="Inter"/>
                <a:ea typeface="Inter"/>
                <a:cs typeface="Inter"/>
                <a:sym typeface="Inter"/>
              </a:rPr>
              <a:t>Gestión de Inventario Multiplataforma Real-Time</a:t>
            </a:r>
            <a:endParaRPr/>
          </a:p>
        </p:txBody>
      </p:sp>
      <p:sp>
        <p:nvSpPr>
          <p:cNvPr id="87" name="Google Shape;87;p13"/>
          <p:cNvSpPr txBox="1"/>
          <p:nvPr/>
        </p:nvSpPr>
        <p:spPr>
          <a:xfrm>
            <a:off x="571500" y="4086225"/>
            <a:ext cx="1104900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00B74A"/>
                </a:solidFill>
                <a:latin typeface="Inter SemiBold"/>
                <a:ea typeface="Inter SemiBold"/>
                <a:cs typeface="Inter SemiBold"/>
                <a:sym typeface="Inter SemiBold"/>
              </a:rPr>
              <a:t>Fase 2: Consolidación Arquitectónica Móvil</a:t>
            </a:r>
            <a:endParaRPr/>
          </a:p>
        </p:txBody>
      </p:sp>
      <p:sp>
        <p:nvSpPr>
          <p:cNvPr id="88" name="Google Shape;88;p13"/>
          <p:cNvSpPr txBox="1"/>
          <p:nvPr/>
        </p:nvSpPr>
        <p:spPr>
          <a:xfrm>
            <a:off x="571500" y="4610100"/>
            <a:ext cx="1104900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Juan Ignacio Redondo González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71500" y="2371725"/>
            <a:ext cx="5334000" cy="3067050"/>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6286500" y="2371725"/>
            <a:ext cx="5334000" cy="3067050"/>
          </a:xfrm>
          <a:prstGeom prst="rect">
            <a:avLst/>
          </a:prstGeom>
          <a:noFill/>
          <a:ln>
            <a:noFill/>
          </a:ln>
        </p:spPr>
      </p:pic>
      <p:sp>
        <p:nvSpPr>
          <p:cNvPr id="96" name="Google Shape;96;p14"/>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El Problema </a:t>
            </a:r>
            <a:r>
              <a:rPr lang="en-US" sz="3600" b="0" i="0" u="none" strike="noStrike" cap="none">
                <a:solidFill>
                  <a:srgbClr val="00B74A"/>
                </a:solidFill>
                <a:latin typeface="Outfit SemiBold"/>
                <a:ea typeface="Outfit SemiBold"/>
                <a:cs typeface="Outfit SemiBold"/>
                <a:sym typeface="Outfit SemiBold"/>
              </a:rPr>
              <a:t>Operativo</a:t>
            </a:r>
            <a:r>
              <a:rPr lang="en-US" sz="3600" b="0" i="0" u="none" strike="noStrike" cap="none">
                <a:solidFill>
                  <a:srgbClr val="FFFFFF"/>
                </a:solidFill>
                <a:latin typeface="Outfit SemiBold"/>
                <a:ea typeface="Outfit SemiBold"/>
                <a:cs typeface="Outfit SemiBold"/>
                <a:sym typeface="Outfit SemiBold"/>
              </a:rPr>
              <a:t> del Stand</a:t>
            </a:r>
            <a:endParaRPr/>
          </a:p>
        </p:txBody>
      </p:sp>
      <p:sp>
        <p:nvSpPr>
          <p:cNvPr id="97" name="Google Shape;97;p14"/>
          <p:cNvSpPr txBox="1"/>
          <p:nvPr/>
        </p:nvSpPr>
        <p:spPr>
          <a:xfrm>
            <a:off x="866775" y="3419475"/>
            <a:ext cx="4980622"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Fricción Operativa</a:t>
            </a:r>
            <a:endParaRPr/>
          </a:p>
        </p:txBody>
      </p:sp>
      <p:sp>
        <p:nvSpPr>
          <p:cNvPr id="98" name="Google Shape;98;p14"/>
          <p:cNvSpPr txBox="1"/>
          <p:nvPr/>
        </p:nvSpPr>
        <p:spPr>
          <a:xfrm>
            <a:off x="866775" y="4114800"/>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Arqueo diario manual ineficiente.</a:t>
            </a:r>
            <a:endParaRPr/>
          </a:p>
        </p:txBody>
      </p:sp>
      <p:sp>
        <p:nvSpPr>
          <p:cNvPr id="99" name="Google Shape;99;p14"/>
          <p:cNvSpPr txBox="1"/>
          <p:nvPr/>
        </p:nvSpPr>
        <p:spPr>
          <a:xfrm>
            <a:off x="866775" y="4714875"/>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Procesos propensos a errores humanos.</a:t>
            </a:r>
            <a:endParaRPr/>
          </a:p>
        </p:txBody>
      </p:sp>
      <p:sp>
        <p:nvSpPr>
          <p:cNvPr id="100" name="Google Shape;100;p14"/>
          <p:cNvSpPr txBox="1"/>
          <p:nvPr/>
        </p:nvSpPr>
        <p:spPr>
          <a:xfrm>
            <a:off x="6581775" y="3419475"/>
            <a:ext cx="4980622"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Invisibilidad de Stock</a:t>
            </a:r>
            <a:endParaRPr/>
          </a:p>
        </p:txBody>
      </p:sp>
      <p:sp>
        <p:nvSpPr>
          <p:cNvPr id="101" name="Google Shape;101;p14"/>
          <p:cNvSpPr txBox="1"/>
          <p:nvPr/>
        </p:nvSpPr>
        <p:spPr>
          <a:xfrm>
            <a:off x="6581775" y="4114800"/>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Nula visibilidad en tiempo real.</a:t>
            </a:r>
            <a:endParaRPr/>
          </a:p>
        </p:txBody>
      </p:sp>
      <p:sp>
        <p:nvSpPr>
          <p:cNvPr id="102" name="Google Shape;102;p14"/>
          <p:cNvSpPr txBox="1"/>
          <p:nvPr/>
        </p:nvSpPr>
        <p:spPr>
          <a:xfrm>
            <a:off x="6581775" y="4714875"/>
            <a:ext cx="4743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Quiebres recurrentes de inventario.</a:t>
            </a:r>
            <a:endParaRPr/>
          </a:p>
        </p:txBody>
      </p:sp>
      <p:pic>
        <p:nvPicPr>
          <p:cNvPr id="103" name="Google Shape;103;p14" descr="image.png"/>
          <p:cNvPicPr preferRelativeResize="0"/>
          <p:nvPr/>
        </p:nvPicPr>
        <p:blipFill rotWithShape="1">
          <a:blip r:embed="rId6">
            <a:alphaModFix/>
          </a:blip>
          <a:srcRect/>
          <a:stretch/>
        </p:blipFill>
        <p:spPr>
          <a:xfrm>
            <a:off x="866775" y="2714625"/>
            <a:ext cx="457200" cy="457200"/>
          </a:xfrm>
          <a:prstGeom prst="rect">
            <a:avLst/>
          </a:prstGeom>
          <a:noFill/>
          <a:ln>
            <a:noFill/>
          </a:ln>
        </p:spPr>
      </p:pic>
      <p:pic>
        <p:nvPicPr>
          <p:cNvPr id="104" name="Google Shape;104;p14" descr="image.png"/>
          <p:cNvPicPr preferRelativeResize="0"/>
          <p:nvPr/>
        </p:nvPicPr>
        <p:blipFill rotWithShape="1">
          <a:blip r:embed="rId7">
            <a:alphaModFix/>
          </a:blip>
          <a:srcRect/>
          <a:stretch/>
        </p:blipFill>
        <p:spPr>
          <a:xfrm>
            <a:off x="6581775" y="2714625"/>
            <a:ext cx="57150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108"/>
        <p:cNvGrpSpPr/>
        <p:nvPr/>
      </p:nvGrpSpPr>
      <p:grpSpPr>
        <a:xfrm>
          <a:off x="0" y="0"/>
          <a:ext cx="0" cy="0"/>
          <a:chOff x="0" y="0"/>
          <a:chExt cx="0" cy="0"/>
        </a:xfrm>
      </p:grpSpPr>
      <p:pic>
        <p:nvPicPr>
          <p:cNvPr id="109" name="Google Shape;10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571500" y="2676525"/>
            <a:ext cx="2476500" cy="2457450"/>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3429000" y="2676525"/>
            <a:ext cx="2476500" cy="2457450"/>
          </a:xfrm>
          <a:prstGeom prst="rect">
            <a:avLst/>
          </a:prstGeom>
          <a:noFill/>
          <a:ln>
            <a:noFill/>
          </a:ln>
        </p:spPr>
      </p:pic>
      <p:pic>
        <p:nvPicPr>
          <p:cNvPr id="112" name="Google Shape;112;p15" descr="image.png"/>
          <p:cNvPicPr preferRelativeResize="0"/>
          <p:nvPr/>
        </p:nvPicPr>
        <p:blipFill rotWithShape="1">
          <a:blip r:embed="rId5">
            <a:alphaModFix/>
          </a:blip>
          <a:srcRect/>
          <a:stretch/>
        </p:blipFill>
        <p:spPr>
          <a:xfrm>
            <a:off x="6286500" y="2676525"/>
            <a:ext cx="2476500" cy="2457450"/>
          </a:xfrm>
          <a:prstGeom prst="rect">
            <a:avLst/>
          </a:prstGeom>
          <a:noFill/>
          <a:ln>
            <a:noFill/>
          </a:ln>
        </p:spPr>
      </p:pic>
      <p:pic>
        <p:nvPicPr>
          <p:cNvPr id="113" name="Google Shape;113;p15" descr="image.png"/>
          <p:cNvPicPr preferRelativeResize="0"/>
          <p:nvPr/>
        </p:nvPicPr>
        <p:blipFill rotWithShape="1">
          <a:blip r:embed="rId6">
            <a:alphaModFix/>
          </a:blip>
          <a:srcRect/>
          <a:stretch/>
        </p:blipFill>
        <p:spPr>
          <a:xfrm>
            <a:off x="9144000" y="2676525"/>
            <a:ext cx="2476500" cy="2457450"/>
          </a:xfrm>
          <a:prstGeom prst="rect">
            <a:avLst/>
          </a:prstGeom>
          <a:noFill/>
          <a:ln>
            <a:noFill/>
          </a:ln>
        </p:spPr>
      </p:pic>
      <p:sp>
        <p:nvSpPr>
          <p:cNvPr id="114" name="Google Shape;114;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Objetivos </a:t>
            </a:r>
            <a:r>
              <a:rPr lang="en-US" sz="3600" b="0" i="0" u="none" strike="noStrike" cap="none">
                <a:solidFill>
                  <a:srgbClr val="00B74A"/>
                </a:solidFill>
                <a:latin typeface="Outfit SemiBold"/>
                <a:ea typeface="Outfit SemiBold"/>
                <a:cs typeface="Outfit SemiBold"/>
                <a:sym typeface="Outfit SemiBold"/>
              </a:rPr>
              <a:t>Estratégicos</a:t>
            </a:r>
            <a:r>
              <a:rPr lang="en-US" sz="3600" b="0" i="0" u="none" strike="noStrike" cap="none">
                <a:solidFill>
                  <a:srgbClr val="FFFFFF"/>
                </a:solidFill>
                <a:latin typeface="Outfit SemiBold"/>
                <a:ea typeface="Outfit SemiBold"/>
                <a:cs typeface="Outfit SemiBold"/>
                <a:sym typeface="Outfit SemiBold"/>
              </a:rPr>
              <a:t> Fase 2</a:t>
            </a:r>
            <a:endParaRPr/>
          </a:p>
        </p:txBody>
      </p:sp>
      <p:sp>
        <p:nvSpPr>
          <p:cNvPr id="115" name="Google Shape;115;p15"/>
          <p:cNvSpPr txBox="1"/>
          <p:nvPr/>
        </p:nvSpPr>
        <p:spPr>
          <a:xfrm>
            <a:off x="866775" y="3895725"/>
            <a:ext cx="188595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Migrar datos para sincronización reactiva.</a:t>
            </a:r>
            <a:endParaRPr/>
          </a:p>
        </p:txBody>
      </p:sp>
      <p:sp>
        <p:nvSpPr>
          <p:cNvPr id="116" name="Google Shape;116;p15"/>
          <p:cNvSpPr txBox="1"/>
          <p:nvPr/>
        </p:nvSpPr>
        <p:spPr>
          <a:xfrm>
            <a:off x="3724275" y="3895725"/>
            <a:ext cx="18859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Implementar control de acceso RBAC.</a:t>
            </a:r>
            <a:endParaRPr/>
          </a:p>
        </p:txBody>
      </p:sp>
      <p:sp>
        <p:nvSpPr>
          <p:cNvPr id="117" name="Google Shape;117;p15"/>
          <p:cNvSpPr txBox="1"/>
          <p:nvPr/>
        </p:nvSpPr>
        <p:spPr>
          <a:xfrm>
            <a:off x="6581775" y="3895725"/>
            <a:ext cx="18859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Desarrollar módulo de cierre de caja.</a:t>
            </a:r>
            <a:endParaRPr/>
          </a:p>
        </p:txBody>
      </p:sp>
      <p:sp>
        <p:nvSpPr>
          <p:cNvPr id="118" name="Google Shape;118;p15"/>
          <p:cNvSpPr txBox="1"/>
          <p:nvPr/>
        </p:nvSpPr>
        <p:spPr>
          <a:xfrm>
            <a:off x="9439275" y="3895725"/>
            <a:ext cx="1885950"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Desplegar entorno web de administración.</a:t>
            </a:r>
            <a:endParaRPr/>
          </a:p>
        </p:txBody>
      </p:sp>
      <p:pic>
        <p:nvPicPr>
          <p:cNvPr id="119" name="Google Shape;119;p15" descr="image.png"/>
          <p:cNvPicPr preferRelativeResize="0"/>
          <p:nvPr/>
        </p:nvPicPr>
        <p:blipFill rotWithShape="1">
          <a:blip r:embed="rId7">
            <a:alphaModFix/>
          </a:blip>
          <a:srcRect/>
          <a:stretch/>
        </p:blipFill>
        <p:spPr>
          <a:xfrm>
            <a:off x="866775" y="3019425"/>
            <a:ext cx="571500" cy="457200"/>
          </a:xfrm>
          <a:prstGeom prst="rect">
            <a:avLst/>
          </a:prstGeom>
          <a:noFill/>
          <a:ln>
            <a:noFill/>
          </a:ln>
        </p:spPr>
      </p:pic>
      <p:pic>
        <p:nvPicPr>
          <p:cNvPr id="120" name="Google Shape;120;p15" descr="image.png"/>
          <p:cNvPicPr preferRelativeResize="0"/>
          <p:nvPr/>
        </p:nvPicPr>
        <p:blipFill rotWithShape="1">
          <a:blip r:embed="rId8">
            <a:alphaModFix/>
          </a:blip>
          <a:srcRect/>
          <a:stretch/>
        </p:blipFill>
        <p:spPr>
          <a:xfrm>
            <a:off x="3724275" y="3019425"/>
            <a:ext cx="571500" cy="457200"/>
          </a:xfrm>
          <a:prstGeom prst="rect">
            <a:avLst/>
          </a:prstGeom>
          <a:noFill/>
          <a:ln>
            <a:noFill/>
          </a:ln>
        </p:spPr>
      </p:pic>
      <p:pic>
        <p:nvPicPr>
          <p:cNvPr id="121" name="Google Shape;121;p15" descr="image.png"/>
          <p:cNvPicPr preferRelativeResize="0"/>
          <p:nvPr/>
        </p:nvPicPr>
        <p:blipFill rotWithShape="1">
          <a:blip r:embed="rId9">
            <a:alphaModFix/>
          </a:blip>
          <a:srcRect/>
          <a:stretch/>
        </p:blipFill>
        <p:spPr>
          <a:xfrm>
            <a:off x="6581775" y="3019425"/>
            <a:ext cx="342900" cy="457200"/>
          </a:xfrm>
          <a:prstGeom prst="rect">
            <a:avLst/>
          </a:prstGeom>
          <a:noFill/>
          <a:ln>
            <a:noFill/>
          </a:ln>
        </p:spPr>
      </p:pic>
      <p:pic>
        <p:nvPicPr>
          <p:cNvPr id="122" name="Google Shape;122;p15" descr="image.png"/>
          <p:cNvPicPr preferRelativeResize="0"/>
          <p:nvPr/>
        </p:nvPicPr>
        <p:blipFill rotWithShape="1">
          <a:blip r:embed="rId10">
            <a:alphaModFix/>
          </a:blip>
          <a:srcRect/>
          <a:stretch/>
        </p:blipFill>
        <p:spPr>
          <a:xfrm>
            <a:off x="9439275" y="3019425"/>
            <a:ext cx="457200" cy="45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126"/>
        <p:cNvGrpSpPr/>
        <p:nvPr/>
      </p:nvGrpSpPr>
      <p:grpSpPr>
        <a:xfrm>
          <a:off x="0" y="0"/>
          <a:ext cx="0" cy="0"/>
          <a:chOff x="0" y="0"/>
          <a:chExt cx="0" cy="0"/>
        </a:xfrm>
      </p:grpSpPr>
      <p:pic>
        <p:nvPicPr>
          <p:cNvPr id="127" name="Google Shape;12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8" name="Google Shape;128;p16"/>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Metodología Ágil: </a:t>
            </a:r>
            <a:r>
              <a:rPr lang="en-US" sz="3600" b="0" i="0" u="none" strike="noStrike" cap="none">
                <a:solidFill>
                  <a:srgbClr val="00B74A"/>
                </a:solidFill>
                <a:latin typeface="Outfit SemiBold"/>
                <a:ea typeface="Outfit SemiBold"/>
                <a:cs typeface="Outfit SemiBold"/>
                <a:sym typeface="Outfit SemiBold"/>
              </a:rPr>
              <a:t>Scrum</a:t>
            </a:r>
            <a:r>
              <a:rPr lang="en-US" sz="3600" b="0" i="0" u="none" strike="noStrike" cap="none">
                <a:solidFill>
                  <a:srgbClr val="FFFFFF"/>
                </a:solidFill>
                <a:latin typeface="Outfit SemiBold"/>
                <a:ea typeface="Outfit SemiBold"/>
                <a:cs typeface="Outfit SemiBold"/>
                <a:sym typeface="Outfit SemiBold"/>
              </a:rPr>
              <a:t> Iterativo</a:t>
            </a:r>
            <a:endParaRPr/>
          </a:p>
        </p:txBody>
      </p:sp>
      <p:sp>
        <p:nvSpPr>
          <p:cNvPr id="129" name="Google Shape;129;p16"/>
          <p:cNvSpPr txBox="1"/>
          <p:nvPr/>
        </p:nvSpPr>
        <p:spPr>
          <a:xfrm>
            <a:off x="571500" y="5310187"/>
            <a:ext cx="1104900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00B74A"/>
                </a:solidFill>
                <a:latin typeface="Inter"/>
                <a:ea typeface="Inter"/>
                <a:cs typeface="Inter"/>
                <a:sym typeface="Inter"/>
              </a:rPr>
              <a:t>SCRUM adaptado para desarrollador único con sprints de 2 semanas.</a:t>
            </a:r>
            <a:endParaRPr/>
          </a:p>
        </p:txBody>
      </p:sp>
      <p:sp>
        <p:nvSpPr>
          <p:cNvPr id="130" name="Google Shape;130;p16"/>
          <p:cNvSpPr/>
          <p:nvPr/>
        </p:nvSpPr>
        <p:spPr>
          <a:xfrm>
            <a:off x="571500" y="3481387"/>
            <a:ext cx="11049000" cy="38100"/>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 name="Google Shape;131;p16"/>
          <p:cNvSpPr/>
          <p:nvPr/>
        </p:nvSpPr>
        <p:spPr>
          <a:xfrm>
            <a:off x="1746870" y="3405187"/>
            <a:ext cx="190500" cy="190500"/>
          </a:xfrm>
          <a:prstGeom prst="roundRect">
            <a:avLst>
              <a:gd name="adj" fmla="val 50000"/>
            </a:avLst>
          </a:prstGeom>
          <a:solidFill>
            <a:srgbClr val="00B74A"/>
          </a:solidFill>
          <a:ln w="38100" cap="flat" cmpd="sng">
            <a:solidFill>
              <a:srgbClr val="1C1C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6"/>
          <p:cNvSpPr/>
          <p:nvPr/>
        </p:nvSpPr>
        <p:spPr>
          <a:xfrm>
            <a:off x="4582790" y="3405187"/>
            <a:ext cx="190500" cy="190500"/>
          </a:xfrm>
          <a:prstGeom prst="roundRect">
            <a:avLst>
              <a:gd name="adj" fmla="val 50000"/>
            </a:avLst>
          </a:prstGeom>
          <a:solidFill>
            <a:srgbClr val="00B74A"/>
          </a:solidFill>
          <a:ln w="38100" cap="flat" cmpd="sng">
            <a:solidFill>
              <a:srgbClr val="1C1C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6"/>
          <p:cNvSpPr/>
          <p:nvPr/>
        </p:nvSpPr>
        <p:spPr>
          <a:xfrm>
            <a:off x="7418709" y="3405187"/>
            <a:ext cx="190500" cy="190500"/>
          </a:xfrm>
          <a:prstGeom prst="roundRect">
            <a:avLst>
              <a:gd name="adj" fmla="val 50000"/>
            </a:avLst>
          </a:prstGeom>
          <a:solidFill>
            <a:srgbClr val="00B74A"/>
          </a:solidFill>
          <a:ln w="38100" cap="flat" cmpd="sng">
            <a:solidFill>
              <a:srgbClr val="1C1C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6"/>
          <p:cNvSpPr/>
          <p:nvPr/>
        </p:nvSpPr>
        <p:spPr>
          <a:xfrm>
            <a:off x="10254629" y="3405187"/>
            <a:ext cx="190500" cy="190500"/>
          </a:xfrm>
          <a:prstGeom prst="roundRect">
            <a:avLst>
              <a:gd name="adj" fmla="val 50000"/>
            </a:avLst>
          </a:prstGeom>
          <a:solidFill>
            <a:srgbClr val="00B74A"/>
          </a:solidFill>
          <a:ln w="38100" cap="flat" cmpd="sng">
            <a:solidFill>
              <a:srgbClr val="1C1C1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6"/>
          <p:cNvSpPr txBox="1"/>
          <p:nvPr/>
        </p:nvSpPr>
        <p:spPr>
          <a:xfrm>
            <a:off x="507968" y="3738562"/>
            <a:ext cx="266830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Planificación</a:t>
            </a:r>
            <a:endParaRPr/>
          </a:p>
        </p:txBody>
      </p:sp>
      <p:sp>
        <p:nvSpPr>
          <p:cNvPr id="136" name="Google Shape;136;p16"/>
          <p:cNvSpPr txBox="1"/>
          <p:nvPr/>
        </p:nvSpPr>
        <p:spPr>
          <a:xfrm>
            <a:off x="571500" y="4291012"/>
            <a:ext cx="2541240"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Priorización de historias de usuario.</a:t>
            </a:r>
            <a:endParaRPr/>
          </a:p>
        </p:txBody>
      </p:sp>
      <p:sp>
        <p:nvSpPr>
          <p:cNvPr id="137" name="Google Shape;137;p16"/>
          <p:cNvSpPr txBox="1"/>
          <p:nvPr/>
        </p:nvSpPr>
        <p:spPr>
          <a:xfrm>
            <a:off x="3343888" y="2024062"/>
            <a:ext cx="266830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Sprint</a:t>
            </a:r>
            <a:endParaRPr/>
          </a:p>
        </p:txBody>
      </p:sp>
      <p:sp>
        <p:nvSpPr>
          <p:cNvPr id="138" name="Google Shape;138;p16"/>
          <p:cNvSpPr txBox="1"/>
          <p:nvPr/>
        </p:nvSpPr>
        <p:spPr>
          <a:xfrm>
            <a:off x="3407419" y="2576512"/>
            <a:ext cx="2541240"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Desarrollo de incrementos funcionales.</a:t>
            </a:r>
            <a:endParaRPr/>
          </a:p>
        </p:txBody>
      </p:sp>
      <p:sp>
        <p:nvSpPr>
          <p:cNvPr id="139" name="Google Shape;139;p16"/>
          <p:cNvSpPr txBox="1"/>
          <p:nvPr/>
        </p:nvSpPr>
        <p:spPr>
          <a:xfrm>
            <a:off x="6179808" y="3738562"/>
            <a:ext cx="266830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Review</a:t>
            </a:r>
            <a:endParaRPr/>
          </a:p>
        </p:txBody>
      </p:sp>
      <p:sp>
        <p:nvSpPr>
          <p:cNvPr id="140" name="Google Shape;140;p16"/>
          <p:cNvSpPr txBox="1"/>
          <p:nvPr/>
        </p:nvSpPr>
        <p:spPr>
          <a:xfrm>
            <a:off x="6243339" y="4291012"/>
            <a:ext cx="254124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Validación técnica y usabilidad.</a:t>
            </a:r>
            <a:endParaRPr/>
          </a:p>
        </p:txBody>
      </p:sp>
      <p:sp>
        <p:nvSpPr>
          <p:cNvPr id="141" name="Google Shape;141;p16"/>
          <p:cNvSpPr txBox="1"/>
          <p:nvPr/>
        </p:nvSpPr>
        <p:spPr>
          <a:xfrm>
            <a:off x="9015728" y="2281237"/>
            <a:ext cx="266830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Cierre</a:t>
            </a:r>
            <a:endParaRPr/>
          </a:p>
        </p:txBody>
      </p:sp>
      <p:sp>
        <p:nvSpPr>
          <p:cNvPr id="142" name="Google Shape;142;p16"/>
          <p:cNvSpPr txBox="1"/>
          <p:nvPr/>
        </p:nvSpPr>
        <p:spPr>
          <a:xfrm>
            <a:off x="9079259" y="2833687"/>
            <a:ext cx="254124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Integración continua y calidad.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146"/>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8" name="Google Shape;148;p17" descr="image.png"/>
          <p:cNvPicPr preferRelativeResize="0"/>
          <p:nvPr/>
        </p:nvPicPr>
        <p:blipFill rotWithShape="1">
          <a:blip r:embed="rId4">
            <a:alphaModFix/>
          </a:blip>
          <a:srcRect/>
          <a:stretch/>
        </p:blipFill>
        <p:spPr>
          <a:xfrm>
            <a:off x="571500" y="2543175"/>
            <a:ext cx="3429000" cy="2724150"/>
          </a:xfrm>
          <a:prstGeom prst="rect">
            <a:avLst/>
          </a:prstGeom>
          <a:noFill/>
          <a:ln>
            <a:noFill/>
          </a:ln>
        </p:spPr>
      </p:pic>
      <p:pic>
        <p:nvPicPr>
          <p:cNvPr id="149" name="Google Shape;149;p17" descr="image.png"/>
          <p:cNvPicPr preferRelativeResize="0"/>
          <p:nvPr/>
        </p:nvPicPr>
        <p:blipFill rotWithShape="1">
          <a:blip r:embed="rId5">
            <a:alphaModFix/>
          </a:blip>
          <a:srcRect/>
          <a:stretch/>
        </p:blipFill>
        <p:spPr>
          <a:xfrm>
            <a:off x="4381500" y="2543175"/>
            <a:ext cx="3429000" cy="2724150"/>
          </a:xfrm>
          <a:prstGeom prst="rect">
            <a:avLst/>
          </a:prstGeom>
          <a:noFill/>
          <a:ln>
            <a:noFill/>
          </a:ln>
        </p:spPr>
      </p:pic>
      <p:pic>
        <p:nvPicPr>
          <p:cNvPr id="150" name="Google Shape;150;p17" descr="image.png"/>
          <p:cNvPicPr preferRelativeResize="0"/>
          <p:nvPr/>
        </p:nvPicPr>
        <p:blipFill rotWithShape="1">
          <a:blip r:embed="rId6">
            <a:alphaModFix/>
          </a:blip>
          <a:srcRect/>
          <a:stretch/>
        </p:blipFill>
        <p:spPr>
          <a:xfrm>
            <a:off x="8191500" y="2543175"/>
            <a:ext cx="3429000" cy="2724150"/>
          </a:xfrm>
          <a:prstGeom prst="rect">
            <a:avLst/>
          </a:prstGeom>
          <a:noFill/>
          <a:ln>
            <a:noFill/>
          </a:ln>
        </p:spPr>
      </p:pic>
      <p:sp>
        <p:nvSpPr>
          <p:cNvPr id="151" name="Google Shape;151;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Desarrollo: </a:t>
            </a:r>
            <a:r>
              <a:rPr lang="en-US" sz="3600" b="0" i="0" u="none" strike="noStrike" cap="none">
                <a:solidFill>
                  <a:srgbClr val="00B74A"/>
                </a:solidFill>
                <a:latin typeface="Outfit SemiBold"/>
                <a:ea typeface="Outfit SemiBold"/>
                <a:cs typeface="Outfit SemiBold"/>
                <a:sym typeface="Outfit SemiBold"/>
              </a:rPr>
              <a:t>Hitos</a:t>
            </a:r>
            <a:r>
              <a:rPr lang="en-US" sz="3600" b="0" i="0" u="none" strike="noStrike" cap="none">
                <a:solidFill>
                  <a:srgbClr val="FFFFFF"/>
                </a:solidFill>
                <a:latin typeface="Outfit SemiBold"/>
                <a:ea typeface="Outfit SemiBold"/>
                <a:cs typeface="Outfit SemiBold"/>
                <a:sym typeface="Outfit SemiBold"/>
              </a:rPr>
              <a:t> y Construcción</a:t>
            </a:r>
            <a:endParaRPr/>
          </a:p>
        </p:txBody>
      </p:sp>
      <p:sp>
        <p:nvSpPr>
          <p:cNvPr id="152" name="Google Shape;152;p17"/>
          <p:cNvSpPr txBox="1"/>
          <p:nvPr/>
        </p:nvSpPr>
        <p:spPr>
          <a:xfrm>
            <a:off x="866775" y="3590925"/>
            <a:ext cx="2980372"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Migración BaaS</a:t>
            </a:r>
            <a:endParaRPr/>
          </a:p>
        </p:txBody>
      </p:sp>
      <p:sp>
        <p:nvSpPr>
          <p:cNvPr id="153" name="Google Shape;153;p17"/>
          <p:cNvSpPr txBox="1"/>
          <p:nvPr/>
        </p:nvSpPr>
        <p:spPr>
          <a:xfrm>
            <a:off x="866775" y="4286250"/>
            <a:ext cx="28384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Implementación exitosa en Firebase.</a:t>
            </a:r>
            <a:endParaRPr/>
          </a:p>
        </p:txBody>
      </p:sp>
      <p:sp>
        <p:nvSpPr>
          <p:cNvPr id="154" name="Google Shape;154;p17"/>
          <p:cNvSpPr txBox="1"/>
          <p:nvPr/>
        </p:nvSpPr>
        <p:spPr>
          <a:xfrm>
            <a:off x="4676775" y="3590925"/>
            <a:ext cx="2980372"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Modelo RBAC</a:t>
            </a:r>
            <a:endParaRPr/>
          </a:p>
        </p:txBody>
      </p:sp>
      <p:sp>
        <p:nvSpPr>
          <p:cNvPr id="155" name="Google Shape;155;p17"/>
          <p:cNvSpPr txBox="1"/>
          <p:nvPr/>
        </p:nvSpPr>
        <p:spPr>
          <a:xfrm>
            <a:off x="4676775" y="4286250"/>
            <a:ext cx="28384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Tres roles endurecidos por stand.</a:t>
            </a:r>
            <a:endParaRPr/>
          </a:p>
        </p:txBody>
      </p:sp>
      <p:sp>
        <p:nvSpPr>
          <p:cNvPr id="156" name="Google Shape;156;p17"/>
          <p:cNvSpPr txBox="1"/>
          <p:nvPr/>
        </p:nvSpPr>
        <p:spPr>
          <a:xfrm>
            <a:off x="8486775" y="3590925"/>
            <a:ext cx="2980372"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FFFFFF"/>
                </a:solidFill>
                <a:latin typeface="Outfit SemiBold"/>
                <a:ea typeface="Outfit SemiBold"/>
                <a:cs typeface="Outfit SemiBold"/>
                <a:sym typeface="Outfit SemiBold"/>
              </a:rPr>
              <a:t>Cierre de Caja</a:t>
            </a:r>
            <a:endParaRPr/>
          </a:p>
        </p:txBody>
      </p:sp>
      <p:sp>
        <p:nvSpPr>
          <p:cNvPr id="157" name="Google Shape;157;p17"/>
          <p:cNvSpPr txBox="1"/>
          <p:nvPr/>
        </p:nvSpPr>
        <p:spPr>
          <a:xfrm>
            <a:off x="8486775" y="4286250"/>
            <a:ext cx="28384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0E0E0"/>
                </a:solidFill>
                <a:latin typeface="Inter"/>
                <a:ea typeface="Inter"/>
                <a:cs typeface="Inter"/>
                <a:sym typeface="Inter"/>
              </a:rPr>
              <a:t>Cálculos matemáticos automatizados.</a:t>
            </a:r>
            <a:endParaRPr/>
          </a:p>
        </p:txBody>
      </p:sp>
      <p:pic>
        <p:nvPicPr>
          <p:cNvPr id="158" name="Google Shape;158;p17" descr="image.png"/>
          <p:cNvPicPr preferRelativeResize="0"/>
          <p:nvPr/>
        </p:nvPicPr>
        <p:blipFill rotWithShape="1">
          <a:blip r:embed="rId7">
            <a:alphaModFix/>
          </a:blip>
          <a:srcRect/>
          <a:stretch/>
        </p:blipFill>
        <p:spPr>
          <a:xfrm>
            <a:off x="866775" y="2886075"/>
            <a:ext cx="400050" cy="457200"/>
          </a:xfrm>
          <a:prstGeom prst="rect">
            <a:avLst/>
          </a:prstGeom>
          <a:noFill/>
          <a:ln>
            <a:noFill/>
          </a:ln>
        </p:spPr>
      </p:pic>
      <p:pic>
        <p:nvPicPr>
          <p:cNvPr id="159" name="Google Shape;159;p17" descr="image.png"/>
          <p:cNvPicPr preferRelativeResize="0"/>
          <p:nvPr/>
        </p:nvPicPr>
        <p:blipFill rotWithShape="1">
          <a:blip r:embed="rId8">
            <a:alphaModFix/>
          </a:blip>
          <a:srcRect/>
          <a:stretch/>
        </p:blipFill>
        <p:spPr>
          <a:xfrm>
            <a:off x="4676775" y="2886075"/>
            <a:ext cx="571500" cy="457200"/>
          </a:xfrm>
          <a:prstGeom prst="rect">
            <a:avLst/>
          </a:prstGeom>
          <a:noFill/>
          <a:ln>
            <a:noFill/>
          </a:ln>
        </p:spPr>
      </p:pic>
      <p:pic>
        <p:nvPicPr>
          <p:cNvPr id="160" name="Google Shape;160;p17" descr="image.png"/>
          <p:cNvPicPr preferRelativeResize="0"/>
          <p:nvPr/>
        </p:nvPicPr>
        <p:blipFill rotWithShape="1">
          <a:blip r:embed="rId9">
            <a:alphaModFix/>
          </a:blip>
          <a:srcRect/>
          <a:stretch/>
        </p:blipFill>
        <p:spPr>
          <a:xfrm>
            <a:off x="8486775" y="2886075"/>
            <a:ext cx="3429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9053" y="0"/>
            <a:ext cx="12192000" cy="6858000"/>
          </a:xfrm>
          <a:prstGeom prst="rect">
            <a:avLst/>
          </a:prstGeom>
          <a:noFill/>
          <a:ln>
            <a:noFill/>
          </a:ln>
        </p:spPr>
      </p:pic>
      <p:sp>
        <p:nvSpPr>
          <p:cNvPr id="166" name="Google Shape;166;p1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Desafíos Técnicos y </a:t>
            </a:r>
            <a:r>
              <a:rPr lang="en-US" sz="3600" b="0" i="0" u="none" strike="noStrike" cap="none">
                <a:solidFill>
                  <a:srgbClr val="00B74A"/>
                </a:solidFill>
                <a:latin typeface="Outfit SemiBold"/>
                <a:ea typeface="Outfit SemiBold"/>
                <a:cs typeface="Outfit SemiBold"/>
                <a:sym typeface="Outfit SemiBold"/>
              </a:rPr>
              <a:t>Resoluciones</a:t>
            </a:r>
            <a:endParaRPr/>
          </a:p>
        </p:txBody>
      </p:sp>
      <p:sp>
        <p:nvSpPr>
          <p:cNvPr id="167" name="Google Shape;167;p18"/>
          <p:cNvSpPr/>
          <p:nvPr/>
        </p:nvSpPr>
        <p:spPr>
          <a:xfrm>
            <a:off x="571500" y="2476500"/>
            <a:ext cx="11049000" cy="2857500"/>
          </a:xfrm>
          <a:prstGeom prst="roundRect">
            <a:avLst>
              <a:gd name="adj" fmla="val 0"/>
            </a:avLst>
          </a:prstGeom>
          <a:solidFill>
            <a:srgbClr val="2C2C2E"/>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68" name="Google Shape;168;p18"/>
          <p:cNvGraphicFramePr/>
          <p:nvPr>
            <p:extLst>
              <p:ext uri="{D42A27DB-BD31-4B8C-83A1-F6EECF244321}">
                <p14:modId xmlns:p14="http://schemas.microsoft.com/office/powerpoint/2010/main" val="2472666566"/>
              </p:ext>
            </p:extLst>
          </p:nvPr>
        </p:nvGraphicFramePr>
        <p:xfrm>
          <a:off x="571500" y="2476500"/>
          <a:ext cx="11049000" cy="2857500"/>
        </p:xfrm>
        <a:graphic>
          <a:graphicData uri="http://schemas.openxmlformats.org/drawingml/2006/table">
            <a:tbl>
              <a:tblPr firstRow="1" bandRow="1">
                <a:noFill/>
                <a:tableStyleId>{5C09389E-E221-48DE-AEFC-6116FC8C98C1}</a:tableStyleId>
              </a:tblPr>
              <a:tblGrid>
                <a:gridCol w="4582725">
                  <a:extLst>
                    <a:ext uri="{9D8B030D-6E8A-4147-A177-3AD203B41FA5}">
                      <a16:colId xmlns:a16="http://schemas.microsoft.com/office/drawing/2014/main" val="20000"/>
                    </a:ext>
                  </a:extLst>
                </a:gridCol>
                <a:gridCol w="6466275">
                  <a:extLst>
                    <a:ext uri="{9D8B030D-6E8A-4147-A177-3AD203B41FA5}">
                      <a16:colId xmlns:a16="http://schemas.microsoft.com/office/drawing/2014/main" val="20001"/>
                    </a:ext>
                  </a:extLst>
                </a:gridCol>
              </a:tblGrid>
              <a:tr h="571500">
                <a:tc>
                  <a:txBody>
                    <a:bodyPr/>
                    <a:lstStyle/>
                    <a:p>
                      <a:pPr marL="0" marR="0" lvl="0" indent="0" algn="l" rtl="0">
                        <a:spcBef>
                          <a:spcPts val="0"/>
                        </a:spcBef>
                        <a:spcAft>
                          <a:spcPts val="0"/>
                        </a:spcAft>
                        <a:buNone/>
                      </a:pPr>
                      <a:r>
                        <a:rPr lang="en-US" sz="1350" b="0" i="0" u="none" strike="noStrike" cap="none">
                          <a:solidFill>
                            <a:srgbClr val="00B74A"/>
                          </a:solidFill>
                          <a:latin typeface="Inter SemiBold"/>
                          <a:ea typeface="Inter SemiBold"/>
                          <a:cs typeface="Inter SemiBold"/>
                          <a:sym typeface="Inter SemiBold"/>
                        </a:rPr>
                        <a:t>Desafío Técnico Detectado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A3A3C"/>
                    </a:solidFill>
                  </a:tcPr>
                </a:tc>
                <a:tc>
                  <a:txBody>
                    <a:bodyPr/>
                    <a:lstStyle/>
                    <a:p>
                      <a:pPr marL="0" marR="0" lvl="0" indent="0" algn="l" rtl="0">
                        <a:spcBef>
                          <a:spcPts val="0"/>
                        </a:spcBef>
                        <a:spcAft>
                          <a:spcPts val="0"/>
                        </a:spcAft>
                        <a:buNone/>
                      </a:pPr>
                      <a:r>
                        <a:rPr lang="en-US" sz="1350" b="0" i="0" u="none" strike="noStrike" cap="none">
                          <a:solidFill>
                            <a:srgbClr val="00B74A"/>
                          </a:solidFill>
                          <a:latin typeface="Inter SemiBold"/>
                          <a:ea typeface="Inter SemiBold"/>
                          <a:cs typeface="Inter SemiBold"/>
                          <a:sym typeface="Inter SemiBold"/>
                        </a:rPr>
                        <a:t>Solución de Ingeniería Aplicada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A3A3C"/>
                    </a:solidFill>
                  </a:tcPr>
                </a:tc>
                <a:extLst>
                  <a:ext uri="{0D108BD9-81ED-4DB2-BD59-A6C34878D82A}">
                    <a16:rowId xmlns:a16="http://schemas.microsoft.com/office/drawing/2014/main" val="10000"/>
                  </a:ext>
                </a:extLst>
              </a:tr>
              <a:tr h="571500">
                <a:tc>
                  <a:txBody>
                    <a:bodyPr/>
                    <a:lstStyle/>
                    <a:p>
                      <a:pPr marL="0" marR="0" lvl="0" indent="0" algn="l" rtl="0">
                        <a:spcBef>
                          <a:spcPts val="0"/>
                        </a:spcBef>
                        <a:spcAft>
                          <a:spcPts val="0"/>
                        </a:spcAft>
                        <a:buNone/>
                      </a:pPr>
                      <a:r>
                        <a:rPr lang="en-US" sz="1350" b="0" i="0" u="none" strike="noStrike" cap="none" dirty="0" err="1">
                          <a:solidFill>
                            <a:schemeClr val="tx1"/>
                          </a:solidFill>
                          <a:latin typeface="Inter"/>
                          <a:ea typeface="Inter"/>
                          <a:cs typeface="Inter"/>
                          <a:sym typeface="Inter"/>
                        </a:rPr>
                        <a:t>Bloqueo</a:t>
                      </a:r>
                      <a:r>
                        <a:rPr lang="en-US" sz="1350" b="0" i="0" u="none" strike="noStrike" cap="none" dirty="0">
                          <a:solidFill>
                            <a:schemeClr val="tx1"/>
                          </a:solidFill>
                          <a:latin typeface="Inter"/>
                          <a:ea typeface="Inter"/>
                          <a:cs typeface="Inter"/>
                          <a:sym typeface="Inter"/>
                        </a:rPr>
                        <a:t> Hosting APK (Firebase)</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Inter"/>
                          <a:ea typeface="Inter"/>
                          <a:cs typeface="Inter"/>
                          <a:sym typeface="Inter"/>
                        </a:rPr>
                        <a:t>Distribución mediante GitHub Releases CDN.</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71500">
                <a:tc>
                  <a:txBody>
                    <a:bodyPr/>
                    <a:lstStyle/>
                    <a:p>
                      <a:pPr marL="0" marR="0" lvl="0" indent="0" algn="l" rtl="0">
                        <a:spcBef>
                          <a:spcPts val="0"/>
                        </a:spcBef>
                        <a:spcAft>
                          <a:spcPts val="0"/>
                        </a:spcAft>
                        <a:buNone/>
                      </a:pPr>
                      <a:r>
                        <a:rPr lang="en-US" sz="1350" b="0" i="0" u="none" strike="noStrike" cap="none">
                          <a:solidFill>
                            <a:schemeClr val="tx1"/>
                          </a:solidFill>
                          <a:latin typeface="Inter"/>
                          <a:ea typeface="Inter"/>
                          <a:cs typeface="Inter"/>
                          <a:sym typeface="Inter"/>
                        </a:rPr>
                        <a:t>Overflows visuales en Login</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solidFill>
                          <a:latin typeface="Inter"/>
                          <a:ea typeface="Inter"/>
                          <a:cs typeface="Inter"/>
                          <a:sym typeface="Inter"/>
                        </a:rPr>
                        <a:t>Layouts </a:t>
                      </a:r>
                      <a:r>
                        <a:rPr lang="en-US" sz="1350" b="0" i="0" u="none" strike="noStrike" cap="none" dirty="0" err="1">
                          <a:solidFill>
                            <a:schemeClr val="tx1"/>
                          </a:solidFill>
                          <a:latin typeface="Inter"/>
                          <a:ea typeface="Inter"/>
                          <a:cs typeface="Inter"/>
                          <a:sym typeface="Inter"/>
                        </a:rPr>
                        <a:t>adaptativos</a:t>
                      </a:r>
                      <a:r>
                        <a:rPr lang="en-US" sz="1350" b="0" i="0" u="none" strike="noStrike" cap="none" dirty="0">
                          <a:solidFill>
                            <a:schemeClr val="tx1"/>
                          </a:solidFill>
                          <a:latin typeface="Inter"/>
                          <a:ea typeface="Inter"/>
                          <a:cs typeface="Inter"/>
                          <a:sym typeface="Inter"/>
                        </a:rPr>
                        <a:t> con </a:t>
                      </a:r>
                      <a:r>
                        <a:rPr lang="en-US" sz="1350" b="0" i="0" u="none" strike="noStrike" cap="none" dirty="0" err="1">
                          <a:solidFill>
                            <a:schemeClr val="tx1"/>
                          </a:solidFill>
                          <a:latin typeface="Inter"/>
                          <a:ea typeface="Inter"/>
                          <a:cs typeface="Inter"/>
                          <a:sym typeface="Inter"/>
                        </a:rPr>
                        <a:t>SingleChildScrollView</a:t>
                      </a:r>
                      <a:r>
                        <a:rPr lang="en-US" sz="1350" b="0" i="0" u="none" strike="noStrike" cap="none" dirty="0">
                          <a:solidFill>
                            <a:schemeClr val="tx1"/>
                          </a:solidFill>
                          <a:latin typeface="Inter"/>
                          <a:ea typeface="Inter"/>
                          <a:cs typeface="Inter"/>
                          <a:sym typeface="Inter"/>
                        </a:rPr>
                        <a:t>.</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71500">
                <a:tc>
                  <a:txBody>
                    <a:bodyPr/>
                    <a:lstStyle/>
                    <a:p>
                      <a:pPr marL="0" marR="0" lvl="0" indent="0" algn="l" rtl="0">
                        <a:spcBef>
                          <a:spcPts val="0"/>
                        </a:spcBef>
                        <a:spcAft>
                          <a:spcPts val="0"/>
                        </a:spcAft>
                        <a:buNone/>
                      </a:pPr>
                      <a:r>
                        <a:rPr lang="en-US" sz="1350" b="0" i="0" u="none" strike="noStrike" cap="none">
                          <a:solidFill>
                            <a:schemeClr val="tx1"/>
                          </a:solidFill>
                          <a:latin typeface="Inter"/>
                          <a:ea typeface="Inter"/>
                          <a:cs typeface="Inter"/>
                          <a:sym typeface="Inter"/>
                        </a:rPr>
                        <a:t>Asignación estática de stands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solidFill>
                          <a:latin typeface="Inter"/>
                          <a:ea typeface="Inter"/>
                          <a:cs typeface="Inter"/>
                          <a:sym typeface="Inter"/>
                        </a:rPr>
                        <a:t>Implementación de propagación dinámica.</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71500">
                <a:tc>
                  <a:txBody>
                    <a:bodyPr/>
                    <a:lstStyle/>
                    <a:p>
                      <a:pPr marL="0" marR="0" lvl="0" indent="0" algn="l" rtl="0">
                        <a:spcBef>
                          <a:spcPts val="0"/>
                        </a:spcBef>
                        <a:spcAft>
                          <a:spcPts val="0"/>
                        </a:spcAft>
                        <a:buNone/>
                      </a:pPr>
                      <a:r>
                        <a:rPr lang="en-US" sz="1350" b="0" i="0" u="none" strike="noStrike" cap="none">
                          <a:solidFill>
                            <a:schemeClr val="tx1"/>
                          </a:solidFill>
                          <a:latin typeface="Inter"/>
                          <a:ea typeface="Inter"/>
                          <a:cs typeface="Inter"/>
                          <a:sym typeface="Inter"/>
                        </a:rPr>
                        <a:t>Deuda técnica acumulada</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err="1">
                          <a:solidFill>
                            <a:schemeClr val="tx1"/>
                          </a:solidFill>
                          <a:latin typeface="Inter"/>
                          <a:ea typeface="Inter"/>
                          <a:cs typeface="Inter"/>
                          <a:sym typeface="Inter"/>
                        </a:rPr>
                        <a:t>Refactorización</a:t>
                      </a:r>
                      <a:r>
                        <a:rPr lang="en-US" sz="1350" b="0" i="0" u="none" strike="noStrike" cap="none" dirty="0">
                          <a:solidFill>
                            <a:schemeClr val="tx1"/>
                          </a:solidFill>
                          <a:latin typeface="Inter"/>
                          <a:ea typeface="Inter"/>
                          <a:cs typeface="Inter"/>
                          <a:sym typeface="Inter"/>
                        </a:rPr>
                        <a:t> completa y </a:t>
                      </a:r>
                      <a:r>
                        <a:rPr lang="en-US" sz="1350" b="0" i="0" u="none" strike="noStrike" cap="none" dirty="0" err="1">
                          <a:solidFill>
                            <a:schemeClr val="tx1"/>
                          </a:solidFill>
                          <a:latin typeface="Inter"/>
                          <a:ea typeface="Inter"/>
                          <a:cs typeface="Inter"/>
                          <a:sym typeface="Inter"/>
                        </a:rPr>
                        <a:t>análisis</a:t>
                      </a:r>
                      <a:r>
                        <a:rPr lang="en-US" sz="1350" b="0" i="0" u="none" strike="noStrike" cap="none" dirty="0">
                          <a:solidFill>
                            <a:schemeClr val="tx1"/>
                          </a:solidFill>
                          <a:latin typeface="Inter"/>
                          <a:ea typeface="Inter"/>
                          <a:cs typeface="Inter"/>
                          <a:sym typeface="Inter"/>
                        </a:rPr>
                        <a:t> </a:t>
                      </a:r>
                      <a:r>
                        <a:rPr lang="en-US" sz="1350" b="0" i="0" u="none" strike="noStrike" cap="none" dirty="0" err="1">
                          <a:solidFill>
                            <a:schemeClr val="tx1"/>
                          </a:solidFill>
                          <a:latin typeface="Inter"/>
                          <a:ea typeface="Inter"/>
                          <a:cs typeface="Inter"/>
                          <a:sym typeface="Inter"/>
                        </a:rPr>
                        <a:t>limpio</a:t>
                      </a:r>
                      <a:r>
                        <a:rPr lang="en-US" sz="1350" b="0" i="0" u="none" strike="noStrike" cap="none" dirty="0">
                          <a:solidFill>
                            <a:schemeClr val="tx1"/>
                          </a:solidFill>
                          <a:latin typeface="Inter"/>
                          <a:ea typeface="Inter"/>
                          <a:cs typeface="Inter"/>
                          <a:sym typeface="Inter"/>
                        </a:rPr>
                        <a:t>.</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69" name="Google Shape;169;p18"/>
          <p:cNvSpPr/>
          <p:nvPr/>
        </p:nvSpPr>
        <p:spPr>
          <a:xfrm>
            <a:off x="571500" y="3033712"/>
            <a:ext cx="4582715"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8"/>
          <p:cNvSpPr/>
          <p:nvPr/>
        </p:nvSpPr>
        <p:spPr>
          <a:xfrm>
            <a:off x="5154215" y="3033712"/>
            <a:ext cx="6466284"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8"/>
          <p:cNvSpPr/>
          <p:nvPr/>
        </p:nvSpPr>
        <p:spPr>
          <a:xfrm>
            <a:off x="571500" y="3605212"/>
            <a:ext cx="4582715"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8"/>
          <p:cNvSpPr/>
          <p:nvPr/>
        </p:nvSpPr>
        <p:spPr>
          <a:xfrm>
            <a:off x="5154215" y="3605212"/>
            <a:ext cx="6466284"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8"/>
          <p:cNvSpPr/>
          <p:nvPr/>
        </p:nvSpPr>
        <p:spPr>
          <a:xfrm>
            <a:off x="571500" y="4176712"/>
            <a:ext cx="4582715"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8"/>
          <p:cNvSpPr/>
          <p:nvPr/>
        </p:nvSpPr>
        <p:spPr>
          <a:xfrm>
            <a:off x="5154215" y="4176712"/>
            <a:ext cx="6466284"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8"/>
          <p:cNvSpPr/>
          <p:nvPr/>
        </p:nvSpPr>
        <p:spPr>
          <a:xfrm>
            <a:off x="571500" y="4748212"/>
            <a:ext cx="4582715"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8"/>
          <p:cNvSpPr/>
          <p:nvPr/>
        </p:nvSpPr>
        <p:spPr>
          <a:xfrm>
            <a:off x="5154215" y="4748212"/>
            <a:ext cx="6466284"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8"/>
          <p:cNvSpPr/>
          <p:nvPr/>
        </p:nvSpPr>
        <p:spPr>
          <a:xfrm>
            <a:off x="571500" y="5319712"/>
            <a:ext cx="4582715"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8"/>
          <p:cNvSpPr/>
          <p:nvPr/>
        </p:nvSpPr>
        <p:spPr>
          <a:xfrm>
            <a:off x="5154215" y="5319712"/>
            <a:ext cx="6466284" cy="9525"/>
          </a:xfrm>
          <a:prstGeom prst="rect">
            <a:avLst/>
          </a:prstGeom>
          <a:solidFill>
            <a:srgbClr val="3A3A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182"/>
        <p:cNvGrpSpPr/>
        <p:nvPr/>
      </p:nvGrpSpPr>
      <p:grpSpPr>
        <a:xfrm>
          <a:off x="0" y="0"/>
          <a:ext cx="0" cy="0"/>
          <a:chOff x="0" y="0"/>
          <a:chExt cx="0" cy="0"/>
        </a:xfrm>
      </p:grpSpPr>
      <p:pic>
        <p:nvPicPr>
          <p:cNvPr id="183" name="Google Shape;183;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5" name="Google Shape;185;p1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Ingeniería: </a:t>
            </a:r>
            <a:r>
              <a:rPr lang="en-US" sz="3600" b="0" i="0" u="none" strike="noStrike" cap="none">
                <a:solidFill>
                  <a:srgbClr val="00B74A"/>
                </a:solidFill>
                <a:latin typeface="Outfit SemiBold"/>
                <a:ea typeface="Outfit SemiBold"/>
                <a:cs typeface="Outfit SemiBold"/>
                <a:sym typeface="Outfit SemiBold"/>
              </a:rPr>
              <a:t>Arquitectura</a:t>
            </a:r>
            <a:r>
              <a:rPr lang="en-US" sz="3600" b="0" i="0" u="none" strike="noStrike" cap="none">
                <a:solidFill>
                  <a:srgbClr val="FFFFFF"/>
                </a:solidFill>
                <a:latin typeface="Outfit SemiBold"/>
                <a:ea typeface="Outfit SemiBold"/>
                <a:cs typeface="Outfit SemiBold"/>
                <a:sym typeface="Outfit SemiBold"/>
              </a:rPr>
              <a:t> y Datos</a:t>
            </a:r>
            <a:endParaRPr/>
          </a:p>
        </p:txBody>
      </p:sp>
      <p:pic>
        <p:nvPicPr>
          <p:cNvPr id="186" name="Google Shape;186;p19" descr="image.png"/>
          <p:cNvPicPr preferRelativeResize="0"/>
          <p:nvPr/>
        </p:nvPicPr>
        <p:blipFill rotWithShape="1">
          <a:blip r:embed="rId4">
            <a:alphaModFix/>
          </a:blip>
          <a:srcRect/>
          <a:stretch/>
        </p:blipFill>
        <p:spPr>
          <a:xfrm>
            <a:off x="6343650" y="1414569"/>
            <a:ext cx="5267325" cy="2270862"/>
          </a:xfrm>
          <a:prstGeom prst="rect">
            <a:avLst/>
          </a:prstGeom>
          <a:noFill/>
          <a:ln>
            <a:noFill/>
          </a:ln>
        </p:spPr>
      </p:pic>
      <p:sp>
        <p:nvSpPr>
          <p:cNvPr id="187" name="Google Shape;187;p19"/>
          <p:cNvSpPr txBox="1"/>
          <p:nvPr/>
        </p:nvSpPr>
        <p:spPr>
          <a:xfrm>
            <a:off x="1000125" y="2390775"/>
            <a:ext cx="48577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Estructura Serverless:</a:t>
            </a:r>
            <a:r>
              <a:rPr lang="en-US" sz="1350" b="0" i="0" u="none" strike="noStrike" cap="none">
                <a:solidFill>
                  <a:srgbClr val="E0E0E0"/>
                </a:solidFill>
                <a:latin typeface="Inter"/>
                <a:ea typeface="Inter"/>
                <a:cs typeface="Inter"/>
                <a:sym typeface="Inter"/>
              </a:rPr>
              <a:t> Flutter y React conectados a la nube.</a:t>
            </a:r>
            <a:endParaRPr/>
          </a:p>
        </p:txBody>
      </p:sp>
      <p:sp>
        <p:nvSpPr>
          <p:cNvPr id="188" name="Google Shape;188;p19"/>
          <p:cNvSpPr txBox="1"/>
          <p:nvPr/>
        </p:nvSpPr>
        <p:spPr>
          <a:xfrm>
            <a:off x="1000125" y="3095625"/>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Esquema NoSQL:</a:t>
            </a:r>
            <a:r>
              <a:rPr lang="en-US" sz="1350" b="0" i="0" u="none" strike="noStrike" cap="none">
                <a:solidFill>
                  <a:srgbClr val="E0E0E0"/>
                </a:solidFill>
                <a:latin typeface="Inter"/>
                <a:ea typeface="Inter"/>
                <a:cs typeface="Inter"/>
                <a:sym typeface="Inter"/>
              </a:rPr>
              <a:t> Colecciones optimizadas en Firestore.</a:t>
            </a:r>
            <a:endParaRPr/>
          </a:p>
        </p:txBody>
      </p:sp>
      <p:sp>
        <p:nvSpPr>
          <p:cNvPr id="189" name="Google Shape;189;p19"/>
          <p:cNvSpPr txBox="1"/>
          <p:nvPr/>
        </p:nvSpPr>
        <p:spPr>
          <a:xfrm>
            <a:off x="1000125" y="3543300"/>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Seguridad:</a:t>
            </a:r>
            <a:r>
              <a:rPr lang="en-US" sz="1350" b="0" i="0" u="none" strike="noStrike" cap="none">
                <a:solidFill>
                  <a:srgbClr val="E0E0E0"/>
                </a:solidFill>
                <a:latin typeface="Inter"/>
                <a:ea typeface="Inter"/>
                <a:cs typeface="Inter"/>
                <a:sym typeface="Inter"/>
              </a:rPr>
              <a:t> Validación robusta en capa de datos.</a:t>
            </a:r>
            <a:endParaRPr/>
          </a:p>
        </p:txBody>
      </p:sp>
      <p:pic>
        <p:nvPicPr>
          <p:cNvPr id="190" name="Google Shape;190;p19" descr="image.png"/>
          <p:cNvPicPr preferRelativeResize="0"/>
          <p:nvPr/>
        </p:nvPicPr>
        <p:blipFill rotWithShape="1">
          <a:blip r:embed="rId5">
            <a:alphaModFix/>
          </a:blip>
          <a:srcRect/>
          <a:stretch/>
        </p:blipFill>
        <p:spPr>
          <a:xfrm>
            <a:off x="571500" y="2419350"/>
            <a:ext cx="257175" cy="247650"/>
          </a:xfrm>
          <a:prstGeom prst="rect">
            <a:avLst/>
          </a:prstGeom>
          <a:noFill/>
          <a:ln>
            <a:noFill/>
          </a:ln>
        </p:spPr>
      </p:pic>
      <p:pic>
        <p:nvPicPr>
          <p:cNvPr id="191" name="Google Shape;191;p19" descr="image.png"/>
          <p:cNvPicPr preferRelativeResize="0"/>
          <p:nvPr/>
        </p:nvPicPr>
        <p:blipFill rotWithShape="1">
          <a:blip r:embed="rId6">
            <a:alphaModFix/>
          </a:blip>
          <a:srcRect/>
          <a:stretch/>
        </p:blipFill>
        <p:spPr>
          <a:xfrm>
            <a:off x="571500" y="3124200"/>
            <a:ext cx="228600" cy="247650"/>
          </a:xfrm>
          <a:prstGeom prst="rect">
            <a:avLst/>
          </a:prstGeom>
          <a:noFill/>
          <a:ln>
            <a:noFill/>
          </a:ln>
        </p:spPr>
      </p:pic>
      <p:pic>
        <p:nvPicPr>
          <p:cNvPr id="192" name="Google Shape;192;p19" descr="image.png"/>
          <p:cNvPicPr preferRelativeResize="0"/>
          <p:nvPr/>
        </p:nvPicPr>
        <p:blipFill rotWithShape="1">
          <a:blip r:embed="rId7">
            <a:alphaModFix/>
          </a:blip>
          <a:srcRect/>
          <a:stretch/>
        </p:blipFill>
        <p:spPr>
          <a:xfrm>
            <a:off x="571500" y="3571875"/>
            <a:ext cx="228600" cy="247650"/>
          </a:xfrm>
          <a:prstGeom prst="rect">
            <a:avLst/>
          </a:prstGeom>
          <a:noFill/>
          <a:ln>
            <a:noFill/>
          </a:ln>
        </p:spPr>
      </p:pic>
      <p:pic>
        <p:nvPicPr>
          <p:cNvPr id="193" name="Picture 192" descr="BaseDeDatos.jpg"/>
          <p:cNvPicPr>
            <a:picLocks noChangeAspect="1"/>
          </p:cNvPicPr>
          <p:nvPr/>
        </p:nvPicPr>
        <p:blipFill>
          <a:blip r:embed="rId8"/>
          <a:stretch>
            <a:fillRect/>
          </a:stretch>
        </p:blipFill>
        <p:spPr>
          <a:xfrm>
            <a:off x="7757285" y="4000000"/>
            <a:ext cx="2440054" cy="23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196"/>
        <p:cNvGrpSpPr/>
        <p:nvPr/>
      </p:nvGrpSpPr>
      <p:grpSpPr>
        <a:xfrm>
          <a:off x="0" y="0"/>
          <a:ext cx="0" cy="0"/>
          <a:chOff x="0" y="0"/>
          <a:chExt cx="0" cy="0"/>
        </a:xfrm>
      </p:grpSpPr>
      <p:pic>
        <p:nvPicPr>
          <p:cNvPr id="197" name="Google Shape;197;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9" name="Google Shape;199;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Ingeniería: </a:t>
            </a:r>
            <a:r>
              <a:rPr lang="en-US" sz="3600" b="0" i="0" u="none" strike="noStrike" cap="none">
                <a:solidFill>
                  <a:srgbClr val="00B74A"/>
                </a:solidFill>
                <a:latin typeface="Outfit SemiBold"/>
                <a:ea typeface="Outfit SemiBold"/>
                <a:cs typeface="Outfit SemiBold"/>
                <a:sym typeface="Outfit SemiBold"/>
              </a:rPr>
              <a:t>Procesos</a:t>
            </a:r>
            <a:r>
              <a:rPr lang="en-US" sz="3600" b="0" i="0" u="none" strike="noStrike" cap="none">
                <a:solidFill>
                  <a:srgbClr val="FFFFFF"/>
                </a:solidFill>
                <a:latin typeface="Outfit SemiBold"/>
                <a:ea typeface="Outfit SemiBold"/>
                <a:cs typeface="Outfit SemiBold"/>
                <a:sym typeface="Outfit SemiBold"/>
              </a:rPr>
              <a:t> y Control</a:t>
            </a:r>
            <a:endParaRPr/>
          </a:p>
        </p:txBody>
      </p:sp>
      <p:pic>
        <p:nvPicPr>
          <p:cNvPr id="200" name="Google Shape;200;p20" descr="image.png"/>
          <p:cNvPicPr preferRelativeResize="0"/>
          <p:nvPr/>
        </p:nvPicPr>
        <p:blipFill rotWithShape="1">
          <a:blip r:embed="rId4">
            <a:alphaModFix/>
          </a:blip>
          <a:srcRect/>
          <a:stretch/>
        </p:blipFill>
        <p:spPr>
          <a:xfrm>
            <a:off x="1869016" y="1400000"/>
            <a:ext cx="2691343" cy="2300000"/>
          </a:xfrm>
          <a:prstGeom prst="rect">
            <a:avLst/>
          </a:prstGeom>
          <a:noFill/>
          <a:ln>
            <a:noFill/>
          </a:ln>
        </p:spPr>
      </p:pic>
      <p:sp>
        <p:nvSpPr>
          <p:cNvPr id="201" name="Google Shape;201;p20"/>
          <p:cNvSpPr txBox="1"/>
          <p:nvPr/>
        </p:nvSpPr>
        <p:spPr>
          <a:xfrm>
            <a:off x="6762750" y="2390775"/>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Casos de Uso:</a:t>
            </a:r>
            <a:r>
              <a:rPr lang="en-US" sz="1350" b="0" i="0" u="none" strike="noStrike" cap="none">
                <a:solidFill>
                  <a:srgbClr val="E0E0E0"/>
                </a:solidFill>
                <a:latin typeface="Inter"/>
                <a:ea typeface="Inter"/>
                <a:cs typeface="Inter"/>
                <a:sym typeface="Inter"/>
              </a:rPr>
              <a:t> Control estricto de roles RBAC.</a:t>
            </a:r>
            <a:endParaRPr/>
          </a:p>
        </p:txBody>
      </p:sp>
      <p:sp>
        <p:nvSpPr>
          <p:cNvPr id="202" name="Google Shape;202;p20"/>
          <p:cNvSpPr txBox="1"/>
          <p:nvPr/>
        </p:nvSpPr>
        <p:spPr>
          <a:xfrm>
            <a:off x="6762750" y="2838450"/>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Secuencia:</a:t>
            </a:r>
            <a:r>
              <a:rPr lang="en-US" sz="1350" b="0" i="0" u="none" strike="noStrike" cap="none">
                <a:solidFill>
                  <a:srgbClr val="E0E0E0"/>
                </a:solidFill>
                <a:latin typeface="Inter"/>
                <a:ea typeface="Inter"/>
                <a:cs typeface="Inter"/>
                <a:sym typeface="Inter"/>
              </a:rPr>
              <a:t> Flujo técnico de arqueo auditado.</a:t>
            </a:r>
            <a:endParaRPr/>
          </a:p>
        </p:txBody>
      </p:sp>
      <p:sp>
        <p:nvSpPr>
          <p:cNvPr id="203" name="Google Shape;203;p20"/>
          <p:cNvSpPr txBox="1"/>
          <p:nvPr/>
        </p:nvSpPr>
        <p:spPr>
          <a:xfrm>
            <a:off x="6762750" y="3286125"/>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Exportación:</a:t>
            </a:r>
            <a:r>
              <a:rPr lang="en-US" sz="1350" b="0" i="0" u="none" strike="noStrike" cap="none">
                <a:solidFill>
                  <a:srgbClr val="E0E0E0"/>
                </a:solidFill>
                <a:latin typeface="Inter"/>
                <a:ea typeface="Inter"/>
                <a:cs typeface="Inter"/>
                <a:sym typeface="Inter"/>
              </a:rPr>
              <a:t> Generación transparente de reportes CSV.</a:t>
            </a:r>
            <a:endParaRPr/>
          </a:p>
        </p:txBody>
      </p:sp>
      <p:pic>
        <p:nvPicPr>
          <p:cNvPr id="204" name="Google Shape;204;p20" descr="image.png"/>
          <p:cNvPicPr preferRelativeResize="0"/>
          <p:nvPr/>
        </p:nvPicPr>
        <p:blipFill rotWithShape="1">
          <a:blip r:embed="rId5">
            <a:alphaModFix/>
          </a:blip>
          <a:srcRect/>
          <a:stretch/>
        </p:blipFill>
        <p:spPr>
          <a:xfrm>
            <a:off x="6334125" y="2419350"/>
            <a:ext cx="285750" cy="247650"/>
          </a:xfrm>
          <a:prstGeom prst="rect">
            <a:avLst/>
          </a:prstGeom>
          <a:noFill/>
          <a:ln>
            <a:noFill/>
          </a:ln>
        </p:spPr>
      </p:pic>
      <p:pic>
        <p:nvPicPr>
          <p:cNvPr id="205" name="Google Shape;205;p20" descr="image.png"/>
          <p:cNvPicPr preferRelativeResize="0"/>
          <p:nvPr/>
        </p:nvPicPr>
        <p:blipFill rotWithShape="1">
          <a:blip r:embed="rId6">
            <a:alphaModFix/>
          </a:blip>
          <a:srcRect/>
          <a:stretch/>
        </p:blipFill>
        <p:spPr>
          <a:xfrm>
            <a:off x="6334125" y="2867025"/>
            <a:ext cx="200025" cy="247650"/>
          </a:xfrm>
          <a:prstGeom prst="rect">
            <a:avLst/>
          </a:prstGeom>
          <a:noFill/>
          <a:ln>
            <a:noFill/>
          </a:ln>
        </p:spPr>
      </p:pic>
      <p:pic>
        <p:nvPicPr>
          <p:cNvPr id="206" name="Google Shape;206;p20" descr="image.png"/>
          <p:cNvPicPr preferRelativeResize="0"/>
          <p:nvPr/>
        </p:nvPicPr>
        <p:blipFill rotWithShape="1">
          <a:blip r:embed="rId7">
            <a:alphaModFix/>
          </a:blip>
          <a:srcRect/>
          <a:stretch/>
        </p:blipFill>
        <p:spPr>
          <a:xfrm>
            <a:off x="6334125" y="3314700"/>
            <a:ext cx="228600" cy="247650"/>
          </a:xfrm>
          <a:prstGeom prst="rect">
            <a:avLst/>
          </a:prstGeom>
          <a:noFill/>
          <a:ln>
            <a:noFill/>
          </a:ln>
        </p:spPr>
      </p:pic>
      <p:pic>
        <p:nvPicPr>
          <p:cNvPr id="207" name="Picture 206" descr="Proceso_Cierre_Caja.jpg"/>
          <p:cNvPicPr>
            <a:picLocks noChangeAspect="1"/>
          </p:cNvPicPr>
          <p:nvPr/>
        </p:nvPicPr>
        <p:blipFill>
          <a:blip r:embed="rId8"/>
          <a:stretch>
            <a:fillRect/>
          </a:stretch>
        </p:blipFill>
        <p:spPr>
          <a:xfrm>
            <a:off x="1188620" y="4000000"/>
            <a:ext cx="4052134" cy="230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210"/>
        <p:cNvGrpSpPr/>
        <p:nvPr/>
      </p:nvGrpSpPr>
      <p:grpSpPr>
        <a:xfrm>
          <a:off x="0" y="0"/>
          <a:ext cx="0" cy="0"/>
          <a:chOff x="0" y="0"/>
          <a:chExt cx="0" cy="0"/>
        </a:xfrm>
      </p:grpSpPr>
      <p:pic>
        <p:nvPicPr>
          <p:cNvPr id="211" name="Google Shape;21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2" name="Google Shape;212;p21"/>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a:solidFill>
                  <a:srgbClr val="FFFFFF"/>
                </a:solidFill>
                <a:latin typeface="Outfit SemiBold"/>
                <a:ea typeface="Outfit SemiBold"/>
                <a:cs typeface="Outfit SemiBold"/>
                <a:sym typeface="Outfit SemiBold"/>
              </a:rPr>
              <a:t>Resultados: </a:t>
            </a:r>
            <a:r>
              <a:rPr lang="en-US" sz="3600" b="0" i="0" u="none" strike="noStrike" cap="none">
                <a:solidFill>
                  <a:srgbClr val="00B74A"/>
                </a:solidFill>
                <a:latin typeface="Outfit SemiBold"/>
                <a:ea typeface="Outfit SemiBold"/>
                <a:cs typeface="Outfit SemiBold"/>
                <a:sym typeface="Outfit SemiBold"/>
              </a:rPr>
              <a:t>Impacto</a:t>
            </a:r>
            <a:r>
              <a:rPr lang="en-US" sz="3600" b="0" i="0" u="none" strike="noStrike" cap="none">
                <a:solidFill>
                  <a:srgbClr val="FFFFFF"/>
                </a:solidFill>
                <a:latin typeface="Outfit SemiBold"/>
                <a:ea typeface="Outfit SemiBold"/>
                <a:cs typeface="Outfit SemiBold"/>
                <a:sym typeface="Outfit SemiBold"/>
              </a:rPr>
              <a:t> Operacional</a:t>
            </a:r>
            <a:endParaRPr/>
          </a:p>
        </p:txBody>
      </p:sp>
      <p:sp>
        <p:nvSpPr>
          <p:cNvPr id="213" name="Google Shape;213;p21"/>
          <p:cNvSpPr txBox="1"/>
          <p:nvPr/>
        </p:nvSpPr>
        <p:spPr>
          <a:xfrm>
            <a:off x="571500" y="2767012"/>
            <a:ext cx="5286375" cy="171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500" b="1" i="0" u="none" strike="noStrike" cap="none">
                <a:solidFill>
                  <a:srgbClr val="00B74A"/>
                </a:solidFill>
                <a:latin typeface="Inter"/>
                <a:ea typeface="Inter"/>
                <a:cs typeface="Inter"/>
                <a:sym typeface="Inter"/>
              </a:rPr>
              <a:t>80%</a:t>
            </a:r>
            <a:endParaRPr/>
          </a:p>
        </p:txBody>
      </p:sp>
      <p:sp>
        <p:nvSpPr>
          <p:cNvPr id="214" name="Google Shape;214;p21"/>
          <p:cNvSpPr txBox="1"/>
          <p:nvPr/>
        </p:nvSpPr>
        <p:spPr>
          <a:xfrm>
            <a:off x="571500" y="4481512"/>
            <a:ext cx="5286375"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dirty="0">
                <a:solidFill>
                  <a:schemeClr val="bg1"/>
                </a:solidFill>
                <a:latin typeface="Inter SemiBold"/>
                <a:ea typeface="Inter SemiBold"/>
                <a:cs typeface="Inter SemiBold"/>
                <a:sym typeface="Inter SemiBold"/>
              </a:rPr>
              <a:t>Ahorro de Tiempo</a:t>
            </a:r>
            <a:endParaRPr dirty="0">
              <a:solidFill>
                <a:schemeClr val="bg1"/>
              </a:solidFill>
            </a:endParaRPr>
          </a:p>
        </p:txBody>
      </p:sp>
      <p:sp>
        <p:nvSpPr>
          <p:cNvPr id="215" name="Google Shape;215;p21"/>
          <p:cNvSpPr txBox="1"/>
          <p:nvPr/>
        </p:nvSpPr>
        <p:spPr>
          <a:xfrm>
            <a:off x="6762750" y="3309937"/>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Cierre rápido:</a:t>
            </a:r>
            <a:r>
              <a:rPr lang="en-US" sz="1350" b="0" i="0" u="none" strike="noStrike" cap="none">
                <a:solidFill>
                  <a:srgbClr val="E0E0E0"/>
                </a:solidFill>
                <a:latin typeface="Inter"/>
                <a:ea typeface="Inter"/>
                <a:cs typeface="Inter"/>
                <a:sym typeface="Inter"/>
              </a:rPr>
              <a:t> De 30 a solo 5 minutos.</a:t>
            </a:r>
            <a:endParaRPr/>
          </a:p>
        </p:txBody>
      </p:sp>
      <p:sp>
        <p:nvSpPr>
          <p:cNvPr id="216" name="Google Shape;216;p21"/>
          <p:cNvSpPr txBox="1"/>
          <p:nvPr/>
        </p:nvSpPr>
        <p:spPr>
          <a:xfrm>
            <a:off x="6762750" y="3757612"/>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Precisión total:</a:t>
            </a:r>
            <a:r>
              <a:rPr lang="en-US" sz="1350" b="0" i="0" u="none" strike="noStrike" cap="none">
                <a:solidFill>
                  <a:srgbClr val="E0E0E0"/>
                </a:solidFill>
                <a:latin typeface="Inter"/>
                <a:ea typeface="Inter"/>
                <a:cs typeface="Inter"/>
                <a:sym typeface="Inter"/>
              </a:rPr>
              <a:t> Error de cálculo eliminado.</a:t>
            </a:r>
            <a:endParaRPr/>
          </a:p>
        </p:txBody>
      </p:sp>
      <p:sp>
        <p:nvSpPr>
          <p:cNvPr id="217" name="Google Shape;217;p21"/>
          <p:cNvSpPr txBox="1"/>
          <p:nvPr/>
        </p:nvSpPr>
        <p:spPr>
          <a:xfrm>
            <a:off x="6762750" y="4205287"/>
            <a:ext cx="485775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E0E0E0"/>
                </a:solidFill>
                <a:latin typeface="Inter"/>
                <a:ea typeface="Inter"/>
                <a:cs typeface="Inter"/>
                <a:sym typeface="Inter"/>
              </a:rPr>
              <a:t>Producción:</a:t>
            </a:r>
            <a:r>
              <a:rPr lang="en-US" sz="1350" b="0" i="0" u="none" strike="noStrike" cap="none">
                <a:solidFill>
                  <a:srgbClr val="E0E0E0"/>
                </a:solidFill>
                <a:latin typeface="Inter"/>
                <a:ea typeface="Inter"/>
                <a:cs typeface="Inter"/>
                <a:sym typeface="Inter"/>
              </a:rPr>
              <a:t> Panel web operativo y escalable.</a:t>
            </a:r>
            <a:endParaRPr/>
          </a:p>
        </p:txBody>
      </p:sp>
      <p:pic>
        <p:nvPicPr>
          <p:cNvPr id="218" name="Google Shape;218;p21" descr="image.png"/>
          <p:cNvPicPr preferRelativeResize="0"/>
          <p:nvPr/>
        </p:nvPicPr>
        <p:blipFill rotWithShape="1">
          <a:blip r:embed="rId4">
            <a:alphaModFix/>
          </a:blip>
          <a:srcRect/>
          <a:stretch/>
        </p:blipFill>
        <p:spPr>
          <a:xfrm>
            <a:off x="6334125" y="3338512"/>
            <a:ext cx="228600" cy="247650"/>
          </a:xfrm>
          <a:prstGeom prst="rect">
            <a:avLst/>
          </a:prstGeom>
          <a:noFill/>
          <a:ln>
            <a:noFill/>
          </a:ln>
        </p:spPr>
      </p:pic>
      <p:pic>
        <p:nvPicPr>
          <p:cNvPr id="219" name="Google Shape;219;p21" descr="image.png"/>
          <p:cNvPicPr preferRelativeResize="0"/>
          <p:nvPr/>
        </p:nvPicPr>
        <p:blipFill rotWithShape="1">
          <a:blip r:embed="rId4">
            <a:alphaModFix/>
          </a:blip>
          <a:srcRect/>
          <a:stretch/>
        </p:blipFill>
        <p:spPr>
          <a:xfrm>
            <a:off x="6334125" y="3786187"/>
            <a:ext cx="228600" cy="247650"/>
          </a:xfrm>
          <a:prstGeom prst="rect">
            <a:avLst/>
          </a:prstGeom>
          <a:noFill/>
          <a:ln>
            <a:noFill/>
          </a:ln>
        </p:spPr>
      </p:pic>
      <p:pic>
        <p:nvPicPr>
          <p:cNvPr id="220" name="Google Shape;220;p21" descr="image.png"/>
          <p:cNvPicPr preferRelativeResize="0"/>
          <p:nvPr/>
        </p:nvPicPr>
        <p:blipFill rotWithShape="1">
          <a:blip r:embed="rId4">
            <a:alphaModFix/>
          </a:blip>
          <a:srcRect/>
          <a:stretch/>
        </p:blipFill>
        <p:spPr>
          <a:xfrm>
            <a:off x="6334125" y="4233862"/>
            <a:ext cx="228600" cy="24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C1C1E"/>
        </a:solidFill>
        <a:effectLst/>
      </p:bgPr>
    </p:bg>
    <p:spTree>
      <p:nvGrpSpPr>
        <p:cNvPr id="1" name="Shape 224"/>
        <p:cNvGrpSpPr/>
        <p:nvPr/>
      </p:nvGrpSpPr>
      <p:grpSpPr>
        <a:xfrm>
          <a:off x="0" y="0"/>
          <a:ext cx="0" cy="0"/>
          <a:chOff x="0" y="0"/>
          <a:chExt cx="0" cy="0"/>
        </a:xfrm>
      </p:grpSpPr>
      <p:pic>
        <p:nvPicPr>
          <p:cNvPr id="225" name="Google Shape;225;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6" name="Google Shape;226;p22"/>
          <p:cNvSpPr txBox="1"/>
          <p:nvPr/>
        </p:nvSpPr>
        <p:spPr>
          <a:xfrm>
            <a:off x="2833687" y="2147887"/>
            <a:ext cx="6850856"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000" b="1" i="0" u="none" strike="noStrike" cap="none" dirty="0">
                <a:solidFill>
                  <a:srgbClr val="00B74A"/>
                </a:solidFill>
                <a:latin typeface="Outfit"/>
                <a:ea typeface="Outfit"/>
                <a:cs typeface="Outfit"/>
                <a:sym typeface="Outfit"/>
              </a:rPr>
              <a:t>Cierre</a:t>
            </a:r>
            <a:endParaRPr dirty="0"/>
          </a:p>
        </p:txBody>
      </p:sp>
      <p:sp>
        <p:nvSpPr>
          <p:cNvPr id="227" name="Google Shape;227;p22"/>
          <p:cNvSpPr txBox="1"/>
          <p:nvPr/>
        </p:nvSpPr>
        <p:spPr>
          <a:xfrm>
            <a:off x="2833687" y="3338512"/>
            <a:ext cx="6524625" cy="342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E0E0E0"/>
                </a:solidFill>
                <a:latin typeface="Inter"/>
                <a:ea typeface="Inter"/>
                <a:cs typeface="Inter"/>
                <a:sym typeface="Inter"/>
              </a:rPr>
              <a:t>StandStock: Solución Robusta y Lista para Producción</a:t>
            </a:r>
            <a:endParaRPr/>
          </a:p>
        </p:txBody>
      </p:sp>
      <p:sp>
        <p:nvSpPr>
          <p:cNvPr id="228" name="Google Shape;228;p22"/>
          <p:cNvSpPr txBox="1"/>
          <p:nvPr/>
        </p:nvSpPr>
        <p:spPr>
          <a:xfrm>
            <a:off x="2833687" y="4157662"/>
            <a:ext cx="65246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AAAAAA"/>
                </a:solidFill>
                <a:latin typeface="Inter"/>
                <a:ea typeface="Inter"/>
                <a:cs typeface="Inter"/>
                <a:sym typeface="Inter"/>
              </a:rPr>
              <a:t>Juan Ignacio Redondo González </a:t>
            </a:r>
            <a:br>
              <a:rPr lang="en-US" sz="1800" b="0" i="0" u="none" strike="noStrike" cap="none" dirty="0">
                <a:solidFill>
                  <a:schemeClr val="dk1"/>
                </a:solidFill>
                <a:latin typeface="Calibri"/>
                <a:ea typeface="Calibri"/>
                <a:cs typeface="Calibri"/>
                <a:sym typeface="Calibri"/>
              </a:rPr>
            </a:br>
            <a:r>
              <a:rPr lang="en-US" sz="1800" b="0" i="0" u="none" strike="noStrike" cap="none" dirty="0">
                <a:solidFill>
                  <a:srgbClr val="AAAAAA"/>
                </a:solidFill>
                <a:latin typeface="Inter"/>
                <a:ea typeface="Inter"/>
                <a:cs typeface="Inter"/>
                <a:sym typeface="Inter"/>
              </a:rPr>
              <a:t> </a:t>
            </a:r>
            <a:r>
              <a:rPr lang="en-US" sz="1800" b="0" i="0" u="none" strike="noStrike" cap="none" dirty="0" err="1">
                <a:solidFill>
                  <a:srgbClr val="AAAAAA"/>
                </a:solidFill>
                <a:latin typeface="Inter"/>
                <a:ea typeface="Inter"/>
                <a:cs typeface="Inter"/>
                <a:sym typeface="Inter"/>
              </a:rPr>
              <a:t>Portafolio</a:t>
            </a:r>
            <a:r>
              <a:rPr lang="en-US" sz="1800" b="0" i="0" u="none" strike="noStrike" cap="none" dirty="0">
                <a:solidFill>
                  <a:srgbClr val="AAAAAA"/>
                </a:solidFill>
                <a:latin typeface="Inter"/>
                <a:ea typeface="Inter"/>
                <a:cs typeface="Inter"/>
                <a:sym typeface="Inter"/>
              </a:rPr>
              <a:t> de </a:t>
            </a:r>
            <a:r>
              <a:rPr lang="en-US" sz="1800" b="0" i="0" u="none" strike="noStrike" cap="none" dirty="0" err="1">
                <a:solidFill>
                  <a:srgbClr val="AAAAAA"/>
                </a:solidFill>
                <a:latin typeface="Inter"/>
                <a:ea typeface="Inter"/>
                <a:cs typeface="Inter"/>
                <a:sym typeface="Inter"/>
              </a:rPr>
              <a:t>Título</a:t>
            </a:r>
            <a:r>
              <a:rPr lang="en-US" sz="1800" b="0" i="0" u="none" strike="noStrike" cap="none" dirty="0">
                <a:solidFill>
                  <a:srgbClr val="AAAAAA"/>
                </a:solidFill>
                <a:latin typeface="Inter"/>
                <a:ea typeface="Inter"/>
                <a:cs typeface="Inter"/>
                <a:sym typeface="Inter"/>
              </a:rPr>
              <a:t> - Fase 2</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1170</Words>
  <Application>Microsoft Office PowerPoint</Application>
  <PresentationFormat>Widescreen</PresentationFormat>
  <Paragraphs>71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Outfit</vt:lpstr>
      <vt:lpstr>Arial</vt:lpstr>
      <vt:lpstr>Outfit SemiBold</vt:lpstr>
      <vt:lpstr>Calibri</vt:lpstr>
      <vt:lpstr>Inter</vt:lpstr>
      <vt:lpstr>Inter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JUAN . REDONDO GONZALEZ</cp:lastModifiedBy>
  <cp:revision>2</cp:revision>
  <dcterms:modified xsi:type="dcterms:W3CDTF">2026-06-06T21:18:47Z</dcterms:modified>
</cp:coreProperties>
</file>